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5323"/>
    <a:srgbClr val="021DAB"/>
    <a:srgbClr val="FFB10D"/>
    <a:srgbClr val="011AAB"/>
    <a:srgbClr val="037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666C2D1-BC05-933C-601A-AE067597B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852A55F-2373-191E-8739-35149E66DFE0}"/>
              </a:ext>
            </a:extLst>
          </p:cNvPr>
          <p:cNvSpPr txBox="1"/>
          <p:nvPr/>
        </p:nvSpPr>
        <p:spPr>
          <a:xfrm>
            <a:off x="481505" y="574437"/>
            <a:ext cx="77943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 DE INVESTIGACION: APLICADO AL PROCESO ADMINISTRATIVO Y DE SELECCIÓN A LA CORPORACION SOY PACIFICO</a:t>
            </a:r>
          </a:p>
          <a:p>
            <a:endParaRPr lang="es-419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A64448-550E-0FC8-9BF1-E8E825D446DE}"/>
              </a:ext>
            </a:extLst>
          </p:cNvPr>
          <p:cNvSpPr txBox="1"/>
          <p:nvPr/>
        </p:nvSpPr>
        <p:spPr>
          <a:xfrm>
            <a:off x="481505" y="4677803"/>
            <a:ext cx="779439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Presentado por:</a:t>
            </a:r>
          </a:p>
          <a:p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Juan José Sanmartin Barreto</a:t>
            </a:r>
          </a:p>
          <a:p>
            <a:r>
              <a:rPr lang="es-419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Hanier</a:t>
            </a:r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419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Steware</a:t>
            </a:r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Benitez Riofrio</a:t>
            </a:r>
          </a:p>
          <a:p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James Alexis </a:t>
            </a:r>
            <a:r>
              <a:rPr lang="es-419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Lopez</a:t>
            </a:r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Guerrero</a:t>
            </a:r>
          </a:p>
          <a:p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Dilan </a:t>
            </a:r>
            <a:r>
              <a:rPr lang="es-419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Andres</a:t>
            </a:r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Hurtado</a:t>
            </a:r>
          </a:p>
          <a:p>
            <a:r>
              <a:rPr lang="es-419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Karol</a:t>
            </a:r>
            <a:r>
              <a:rPr lang="es-419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Danisha Gamboa Angulo</a:t>
            </a:r>
          </a:p>
          <a:p>
            <a:endParaRPr lang="es-419"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090E40-2FB8-7C13-397B-2F24CA92355E}"/>
              </a:ext>
            </a:extLst>
          </p:cNvPr>
          <p:cNvSpPr txBox="1"/>
          <p:nvPr/>
        </p:nvSpPr>
        <p:spPr>
          <a:xfrm>
            <a:off x="499647" y="2975094"/>
            <a:ext cx="7794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i="1" dirty="0"/>
              <a:t>Basado en las teorías de Henry Fayol y Frederick Taylor</a:t>
            </a:r>
            <a:endParaRPr lang="es-419" sz="4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8D3A-D249-E523-4D18-99BE497E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1">
            <a:extLst>
              <a:ext uri="{FF2B5EF4-FFF2-40B4-BE49-F238E27FC236}">
                <a16:creationId xmlns:a16="http://schemas.microsoft.com/office/drawing/2014/main" id="{13BC49DE-893F-1EE3-0481-6868BB4E315F}"/>
              </a:ext>
            </a:extLst>
          </p:cNvPr>
          <p:cNvSpPr/>
          <p:nvPr/>
        </p:nvSpPr>
        <p:spPr>
          <a:xfrm>
            <a:off x="9615874" y="3912441"/>
            <a:ext cx="2832251" cy="3228318"/>
          </a:xfrm>
          <a:custGeom>
            <a:avLst/>
            <a:gdLst/>
            <a:ahLst/>
            <a:cxnLst/>
            <a:rect l="l" t="t" r="r" b="b"/>
            <a:pathLst>
              <a:path w="3609975" h="4114800">
                <a:moveTo>
                  <a:pt x="0" y="0"/>
                </a:moveTo>
                <a:lnTo>
                  <a:pt x="3609975" y="0"/>
                </a:lnTo>
                <a:lnTo>
                  <a:pt x="3609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49B5B2-2443-07CD-DCE5-46E203C3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852"/>
          <a:stretch>
            <a:fillRect/>
          </a:stretch>
        </p:blipFill>
        <p:spPr>
          <a:xfrm>
            <a:off x="3239" y="6504972"/>
            <a:ext cx="12185522" cy="35302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B3BE5CD-8483-B9E1-2E12-A3DF70DB76AC}"/>
              </a:ext>
            </a:extLst>
          </p:cNvPr>
          <p:cNvSpPr txBox="1"/>
          <p:nvPr/>
        </p:nvSpPr>
        <p:spPr>
          <a:xfrm>
            <a:off x="481504" y="1536475"/>
            <a:ext cx="1085705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/>
              <a:t>• El proceso administrativo es fundamental para el funcionamiento de las organizaciones.</a:t>
            </a:r>
          </a:p>
          <a:p>
            <a:endParaRPr lang="es-419" dirty="0"/>
          </a:p>
          <a:p>
            <a:r>
              <a:rPr lang="es-419" sz="2000" dirty="0"/>
              <a:t>Henry Fayol plantea cuatro funciones administrativas:</a:t>
            </a:r>
          </a:p>
          <a:p>
            <a:endParaRPr lang="es-419" sz="2000" dirty="0"/>
          </a:p>
          <a:p>
            <a:r>
              <a:rPr lang="es-419" sz="2000" dirty="0"/>
              <a:t> </a:t>
            </a:r>
            <a:r>
              <a:rPr lang="es-419" sz="2000"/>
              <a:t>• Planeación</a:t>
            </a:r>
            <a:endParaRPr lang="es-419" sz="2000" dirty="0"/>
          </a:p>
          <a:p>
            <a:r>
              <a:rPr lang="es-419" sz="2000" dirty="0"/>
              <a:t> • Organización</a:t>
            </a:r>
          </a:p>
          <a:p>
            <a:r>
              <a:rPr lang="es-419" sz="2000" dirty="0"/>
              <a:t> • Dirección</a:t>
            </a:r>
          </a:p>
          <a:p>
            <a:r>
              <a:rPr lang="es-419" sz="2000" dirty="0"/>
              <a:t> • Control</a:t>
            </a:r>
          </a:p>
          <a:p>
            <a:endParaRPr lang="es-419" sz="2000" dirty="0"/>
          </a:p>
          <a:p>
            <a:r>
              <a:rPr lang="es-419" sz="2000" dirty="0"/>
              <a:t>Frederick Taylor propone la administración científica y el proceso de selección eficiente.</a:t>
            </a:r>
          </a:p>
          <a:p>
            <a:r>
              <a:rPr lang="es-419" sz="2000" dirty="0"/>
              <a:t> </a:t>
            </a:r>
          </a:p>
          <a:p>
            <a:r>
              <a:rPr lang="es-419" sz="2000" dirty="0"/>
              <a:t>La Corporación Soy Pacífico aplica estos principios en sus procesos institucionales y comunitarios.</a:t>
            </a:r>
            <a:endParaRPr lang="es-419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EB0656-E39F-6857-5C27-99D66BAAC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04" y="179052"/>
            <a:ext cx="1877229" cy="13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9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99D3A0-A59C-5079-463B-D2679450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5E38380-B622-9C61-0EC8-692963C280A0}"/>
              </a:ext>
            </a:extLst>
          </p:cNvPr>
          <p:cNvSpPr txBox="1"/>
          <p:nvPr/>
        </p:nvSpPr>
        <p:spPr>
          <a:xfrm>
            <a:off x="633904" y="429035"/>
            <a:ext cx="102068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Justificación </a:t>
            </a:r>
          </a:p>
          <a:p>
            <a:endParaRPr lang="es-419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814A06-9E87-6556-0960-A06BB96A1D70}"/>
              </a:ext>
            </a:extLst>
          </p:cNvPr>
          <p:cNvSpPr txBox="1"/>
          <p:nvPr/>
        </p:nvSpPr>
        <p:spPr>
          <a:xfrm>
            <a:off x="1267806" y="1771725"/>
            <a:ext cx="10206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Permite analizar cómo una organización social aplica teorías administrativas clásicas.</a:t>
            </a:r>
            <a:endParaRPr lang="es-419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0CAFD7-8E2F-DF7A-E811-F8F44726229E}"/>
              </a:ext>
            </a:extLst>
          </p:cNvPr>
          <p:cNvSpPr txBox="1"/>
          <p:nvPr/>
        </p:nvSpPr>
        <p:spPr>
          <a:xfrm>
            <a:off x="1267805" y="2639017"/>
            <a:ext cx="10206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Evidencia la importancia de la administración en el desarrollo comunitario.</a:t>
            </a:r>
            <a:endParaRPr lang="es-419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6B22A6D-0E84-2556-2F3A-B8469260808D}"/>
              </a:ext>
            </a:extLst>
          </p:cNvPr>
          <p:cNvSpPr txBox="1"/>
          <p:nvPr/>
        </p:nvSpPr>
        <p:spPr>
          <a:xfrm>
            <a:off x="1270896" y="3514525"/>
            <a:ext cx="10206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Demuestra cómo la planeación y organización fortalecen el impacto social.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E5A684-AE89-4D1A-26F6-B22A0200F3C0}"/>
              </a:ext>
            </a:extLst>
          </p:cNvPr>
          <p:cNvSpPr txBox="1"/>
          <p:nvPr/>
        </p:nvSpPr>
        <p:spPr>
          <a:xfrm>
            <a:off x="1270896" y="3974534"/>
            <a:ext cx="10206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Facilita comprender el funcionamiento interno de la Corporación Soy Pacífico</a:t>
            </a:r>
            <a:r>
              <a:rPr lang="es-419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0180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4322-78B7-5493-0EA3-AFDCD59D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0DF08E2-837B-D241-EF54-B7A39085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04"/>
          <a:stretch>
            <a:fillRect/>
          </a:stretch>
        </p:blipFill>
        <p:spPr>
          <a:xfrm>
            <a:off x="3239" y="1536474"/>
            <a:ext cx="12185522" cy="53215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EE1EBC-964E-40A0-5310-60C224FA09A9}"/>
              </a:ext>
            </a:extLst>
          </p:cNvPr>
          <p:cNvSpPr txBox="1"/>
          <p:nvPr/>
        </p:nvSpPr>
        <p:spPr>
          <a:xfrm>
            <a:off x="481504" y="969307"/>
            <a:ext cx="1085705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/>
              <a:t>• </a:t>
            </a:r>
            <a:r>
              <a:rPr lang="es-419" sz="4000" dirty="0"/>
              <a:t>Reseña Histórica.</a:t>
            </a:r>
          </a:p>
          <a:p>
            <a:r>
              <a:rPr lang="es-419" sz="2000" dirty="0"/>
              <a:t>Nace en el 2011 como una plataforma sociocultural que ejercía acciones de fortalecimiento e identidad colectiva de región para el pacifico, reconociendo a través de la conversa y el dialogo intersectorial la importancia y el autorreconocimiento de todo aquello que conforma la región, desde sus sectores productivos, expresiones culturales, su biodiversidad, </a:t>
            </a:r>
            <a:r>
              <a:rPr lang="es-419" sz="2000" dirty="0" err="1"/>
              <a:t>pluriétnia</a:t>
            </a:r>
            <a:r>
              <a:rPr lang="es-419" sz="2000" dirty="0"/>
              <a:t>.  </a:t>
            </a:r>
          </a:p>
          <a:p>
            <a:endParaRPr lang="es-419" sz="2000" dirty="0"/>
          </a:p>
          <a:p>
            <a:r>
              <a:rPr lang="es-419" sz="2400" dirty="0"/>
              <a:t>Trabaja en proyectos:</a:t>
            </a:r>
          </a:p>
          <a:p>
            <a:endParaRPr lang="es-419" sz="2400" dirty="0"/>
          </a:p>
          <a:p>
            <a:r>
              <a:rPr lang="es-419" sz="2400" dirty="0"/>
              <a:t> • Culturales </a:t>
            </a:r>
          </a:p>
          <a:p>
            <a:r>
              <a:rPr lang="es-419" sz="2400" dirty="0"/>
              <a:t> • Comunitarios (Juveniles, Paz, Población Vulnerable, Mujeres)</a:t>
            </a:r>
          </a:p>
          <a:p>
            <a:r>
              <a:rPr lang="es-419" sz="2400" dirty="0"/>
              <a:t> • Ambientales</a:t>
            </a:r>
          </a:p>
          <a:p>
            <a:r>
              <a:rPr lang="es-419" sz="2400" dirty="0"/>
              <a:t> • Comunicacionales</a:t>
            </a:r>
          </a:p>
          <a:p>
            <a:r>
              <a:rPr lang="es-419" sz="2400" dirty="0"/>
              <a:t> </a:t>
            </a:r>
          </a:p>
          <a:p>
            <a:r>
              <a:rPr lang="es-419" sz="2400" dirty="0"/>
              <a:t>Busca fortalecer el liderazgo social y la participación ciudadana.</a:t>
            </a:r>
          </a:p>
          <a:p>
            <a:r>
              <a:rPr lang="es-419" sz="2400" dirty="0"/>
              <a:t>Promueve procesos de transformación social en Buenaventura y el Valle del Cauca.</a:t>
            </a:r>
            <a:endParaRPr lang="es-419" sz="2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9F73EBF-0E55-FBD0-2CCF-884E20135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501" y="197576"/>
            <a:ext cx="1571995" cy="1136708"/>
          </a:xfrm>
          <a:prstGeom prst="rect">
            <a:avLst/>
          </a:prstGeom>
        </p:spPr>
      </p:pic>
      <p:sp>
        <p:nvSpPr>
          <p:cNvPr id="3" name="Freeform 11">
            <a:extLst>
              <a:ext uri="{FF2B5EF4-FFF2-40B4-BE49-F238E27FC236}">
                <a16:creationId xmlns:a16="http://schemas.microsoft.com/office/drawing/2014/main" id="{F985D8A0-D499-2060-C866-2DF1A9346503}"/>
              </a:ext>
            </a:extLst>
          </p:cNvPr>
          <p:cNvSpPr/>
          <p:nvPr/>
        </p:nvSpPr>
        <p:spPr>
          <a:xfrm>
            <a:off x="8722375" y="2660375"/>
            <a:ext cx="2832251" cy="3228318"/>
          </a:xfrm>
          <a:custGeom>
            <a:avLst/>
            <a:gdLst/>
            <a:ahLst/>
            <a:cxnLst/>
            <a:rect l="l" t="t" r="r" b="b"/>
            <a:pathLst>
              <a:path w="3609975" h="4114800">
                <a:moveTo>
                  <a:pt x="0" y="0"/>
                </a:moveTo>
                <a:lnTo>
                  <a:pt x="3609975" y="0"/>
                </a:lnTo>
                <a:lnTo>
                  <a:pt x="3609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6540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4B978-2C58-8AE6-58BD-E83BDEC9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E6BB47C-E689-B91E-3E3B-20679DEDB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021"/>
          <a:stretch>
            <a:fillRect/>
          </a:stretch>
        </p:blipFill>
        <p:spPr>
          <a:xfrm>
            <a:off x="3239" y="6516546"/>
            <a:ext cx="12185522" cy="3414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5BE9F4A-A48C-7076-C598-8845F4216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" y="8467"/>
            <a:ext cx="10030460" cy="6686973"/>
          </a:xfrm>
          <a:prstGeom prst="rect">
            <a:avLst/>
          </a:prstGeom>
        </p:spPr>
      </p:pic>
      <p:sp>
        <p:nvSpPr>
          <p:cNvPr id="10" name="Freeform 3">
            <a:extLst>
              <a:ext uri="{FF2B5EF4-FFF2-40B4-BE49-F238E27FC236}">
                <a16:creationId xmlns:a16="http://schemas.microsoft.com/office/drawing/2014/main" id="{CEDB37EB-351E-0134-B019-0074D71814AC}"/>
              </a:ext>
            </a:extLst>
          </p:cNvPr>
          <p:cNvSpPr/>
          <p:nvPr/>
        </p:nvSpPr>
        <p:spPr>
          <a:xfrm>
            <a:off x="9587491" y="-35836"/>
            <a:ext cx="2635411" cy="1948487"/>
          </a:xfrm>
          <a:custGeom>
            <a:avLst/>
            <a:gdLst/>
            <a:ahLst/>
            <a:cxnLst/>
            <a:rect l="l" t="t" r="r" b="b"/>
            <a:pathLst>
              <a:path w="3800475" h="2809875">
                <a:moveTo>
                  <a:pt x="0" y="0"/>
                </a:moveTo>
                <a:lnTo>
                  <a:pt x="3800475" y="0"/>
                </a:lnTo>
                <a:lnTo>
                  <a:pt x="3800475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0319FC40-1F71-FEBD-868D-56233FC34BCA}"/>
              </a:ext>
            </a:extLst>
          </p:cNvPr>
          <p:cNvSpPr/>
          <p:nvPr/>
        </p:nvSpPr>
        <p:spPr>
          <a:xfrm>
            <a:off x="226967" y="5310391"/>
            <a:ext cx="1321008" cy="1043596"/>
          </a:xfrm>
          <a:custGeom>
            <a:avLst/>
            <a:gdLst/>
            <a:ahLst/>
            <a:cxnLst/>
            <a:rect l="l" t="t" r="r" b="b"/>
            <a:pathLst>
              <a:path w="1905000" h="1504950">
                <a:moveTo>
                  <a:pt x="0" y="0"/>
                </a:moveTo>
                <a:lnTo>
                  <a:pt x="1905000" y="0"/>
                </a:lnTo>
                <a:lnTo>
                  <a:pt x="1905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113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C485-6F9B-8182-1860-33C053C2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3BD5CBB-759F-73E5-59B7-C86F6A9A5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135EF9C-CF37-EB74-FA2A-55F909E92FA4}"/>
              </a:ext>
            </a:extLst>
          </p:cNvPr>
          <p:cNvSpPr txBox="1"/>
          <p:nvPr/>
        </p:nvSpPr>
        <p:spPr>
          <a:xfrm>
            <a:off x="481504" y="1536475"/>
            <a:ext cx="108570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5400" b="1" dirty="0">
                <a:solidFill>
                  <a:srgbClr val="1953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</a:t>
            </a:r>
            <a:r>
              <a:rPr lang="es-419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PLANEACIÓN</a:t>
            </a:r>
          </a:p>
          <a:p>
            <a:r>
              <a:rPr lang="es-MX" sz="3600" dirty="0"/>
              <a:t>Aplicación en Soy Pacífico </a:t>
            </a:r>
          </a:p>
          <a:p>
            <a:pPr marL="571500" indent="-571500">
              <a:buClr>
                <a:srgbClr val="195323"/>
              </a:buClr>
              <a:buFont typeface="Wingdings" panose="05000000000000000000" pitchFamily="2" charset="2"/>
              <a:buChar char="ü"/>
            </a:pPr>
            <a:endParaRPr lang="es-MX" sz="3600" dirty="0"/>
          </a:p>
          <a:p>
            <a:pPr marL="571500" indent="-571500">
              <a:buClr>
                <a:srgbClr val="195323"/>
              </a:buClr>
              <a:buFont typeface="Wingdings" panose="05000000000000000000" pitchFamily="2" charset="2"/>
              <a:buChar char="ü"/>
            </a:pPr>
            <a:r>
              <a:rPr lang="es-MX" sz="3600" dirty="0"/>
              <a:t>Diseño de proyectos sociales y ambientales. </a:t>
            </a:r>
          </a:p>
          <a:p>
            <a:pPr marL="571500" indent="-571500">
              <a:buClr>
                <a:srgbClr val="195323"/>
              </a:buClr>
              <a:buFont typeface="Wingdings" panose="05000000000000000000" pitchFamily="2" charset="2"/>
              <a:buChar char="ü"/>
            </a:pPr>
            <a:r>
              <a:rPr lang="es-MX" sz="3600" dirty="0"/>
              <a:t>Definición de objetivos institucionales. </a:t>
            </a:r>
          </a:p>
          <a:p>
            <a:pPr marL="571500" indent="-571500">
              <a:buClr>
                <a:srgbClr val="195323"/>
              </a:buClr>
              <a:buFont typeface="Wingdings" panose="05000000000000000000" pitchFamily="2" charset="2"/>
              <a:buChar char="ü"/>
            </a:pPr>
            <a:r>
              <a:rPr lang="es-MX" sz="3600" dirty="0"/>
              <a:t>Elaboración de cronogramas. </a:t>
            </a:r>
          </a:p>
          <a:p>
            <a:pPr marL="571500" indent="-571500">
              <a:buClr>
                <a:srgbClr val="195323"/>
              </a:buClr>
              <a:buFont typeface="Wingdings" panose="05000000000000000000" pitchFamily="2" charset="2"/>
              <a:buChar char="ü"/>
            </a:pPr>
            <a:r>
              <a:rPr lang="es-MX" sz="3600" dirty="0"/>
              <a:t>Gestión de alianzas estratégicas. </a:t>
            </a:r>
          </a:p>
          <a:p>
            <a:pPr marL="571500" indent="-571500">
              <a:buClr>
                <a:srgbClr val="195323"/>
              </a:buClr>
              <a:buFont typeface="Wingdings" panose="05000000000000000000" pitchFamily="2" charset="2"/>
              <a:buChar char="ü"/>
            </a:pPr>
            <a:r>
              <a:rPr lang="es-MX" sz="3600" dirty="0"/>
              <a:t>Planeación de actividades juveniles y comunitarias.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38562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63B8-5ED7-76BA-F4AB-726D5081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FFC1F1A-8043-9706-218F-0E02DBFB4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470DE98-2990-5A24-B3D1-B2419B813405}"/>
              </a:ext>
            </a:extLst>
          </p:cNvPr>
          <p:cNvSpPr txBox="1"/>
          <p:nvPr/>
        </p:nvSpPr>
        <p:spPr>
          <a:xfrm>
            <a:off x="481504" y="1536475"/>
            <a:ext cx="108570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5400" b="1" dirty="0">
                <a:solidFill>
                  <a:srgbClr val="021D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</a:t>
            </a:r>
            <a:r>
              <a:rPr lang="es-419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ORGANIZACIÓN</a:t>
            </a:r>
          </a:p>
          <a:p>
            <a:r>
              <a:rPr lang="es-MX" sz="3600" dirty="0"/>
              <a:t>Aplicación en Soy Pacífico</a:t>
            </a:r>
          </a:p>
          <a:p>
            <a:endParaRPr lang="es-MX" sz="3600" dirty="0"/>
          </a:p>
          <a:p>
            <a:pPr marL="571500" indent="-571500">
              <a:buClr>
                <a:srgbClr val="011AAB"/>
              </a:buClr>
              <a:buFont typeface="Courier New" panose="02070309020205020404" pitchFamily="49" charset="0"/>
              <a:buChar char="o"/>
            </a:pPr>
            <a:r>
              <a:rPr lang="es-MX" sz="3600" dirty="0"/>
              <a:t>Distribución de funciones. </a:t>
            </a:r>
          </a:p>
          <a:p>
            <a:pPr marL="571500" indent="-571500">
              <a:buClr>
                <a:srgbClr val="011AAB"/>
              </a:buClr>
              <a:buFont typeface="Courier New" panose="02070309020205020404" pitchFamily="49" charset="0"/>
              <a:buChar char="o"/>
            </a:pPr>
            <a:r>
              <a:rPr lang="es-MX" sz="3600" dirty="0"/>
              <a:t>Coordinación entre áreas. </a:t>
            </a:r>
          </a:p>
          <a:p>
            <a:pPr marL="571500" indent="-571500">
              <a:buClr>
                <a:srgbClr val="011AAB"/>
              </a:buClr>
              <a:buFont typeface="Courier New" panose="02070309020205020404" pitchFamily="49" charset="0"/>
              <a:buChar char="o"/>
            </a:pPr>
            <a:r>
              <a:rPr lang="es-MX" sz="3600" dirty="0"/>
              <a:t>Organización del talento humano. </a:t>
            </a:r>
          </a:p>
          <a:p>
            <a:pPr marL="571500" indent="-571500">
              <a:buClr>
                <a:srgbClr val="011AAB"/>
              </a:buClr>
              <a:buFont typeface="Courier New" panose="02070309020205020404" pitchFamily="49" charset="0"/>
              <a:buChar char="o"/>
            </a:pPr>
            <a:r>
              <a:rPr lang="es-MX" sz="3600" dirty="0"/>
              <a:t>Estructura administrativa definida. </a:t>
            </a:r>
          </a:p>
          <a:p>
            <a:pPr marL="571500" indent="-571500">
              <a:buClr>
                <a:srgbClr val="011AAB"/>
              </a:buClr>
              <a:buFont typeface="Courier New" panose="02070309020205020404" pitchFamily="49" charset="0"/>
              <a:buChar char="o"/>
            </a:pPr>
            <a:r>
              <a:rPr lang="es-MX" sz="3600" dirty="0"/>
              <a:t>Trabajo articulado entre directivos y coordinadores.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337085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4DF4-C440-068A-6BD1-1BB907B3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CEE5E63-8B1B-488B-0B04-6909B80B7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57FFCD1-EE09-78A7-BA97-366EC6B0CEC1}"/>
              </a:ext>
            </a:extLst>
          </p:cNvPr>
          <p:cNvSpPr txBox="1"/>
          <p:nvPr/>
        </p:nvSpPr>
        <p:spPr>
          <a:xfrm>
            <a:off x="481504" y="1536475"/>
            <a:ext cx="108570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5400" b="1" dirty="0">
                <a:solidFill>
                  <a:srgbClr val="FFB1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</a:t>
            </a:r>
            <a:r>
              <a:rPr lang="es-419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DIRECCIÓN</a:t>
            </a:r>
          </a:p>
          <a:p>
            <a:r>
              <a:rPr lang="es-MX" sz="3600" dirty="0"/>
              <a:t>Aplicación en Soy Pacífico </a:t>
            </a:r>
          </a:p>
          <a:p>
            <a:pPr>
              <a:buClr>
                <a:srgbClr val="FFB10D"/>
              </a:buClr>
            </a:pPr>
            <a:endParaRPr lang="es-MX" sz="3600" dirty="0"/>
          </a:p>
          <a:p>
            <a:pPr marL="571500" indent="-571500">
              <a:buClr>
                <a:srgbClr val="FFB10D"/>
              </a:buClr>
              <a:buFont typeface="Wingdings" panose="05000000000000000000" pitchFamily="2" charset="2"/>
              <a:buChar char="v"/>
            </a:pPr>
            <a:r>
              <a:rPr lang="es-MX" sz="3600" dirty="0"/>
              <a:t>Liderazgo del gerente y la junta directiva. </a:t>
            </a:r>
          </a:p>
          <a:p>
            <a:pPr marL="571500" indent="-571500">
              <a:buClr>
                <a:srgbClr val="FFB10D"/>
              </a:buClr>
              <a:buFont typeface="Wingdings" panose="05000000000000000000" pitchFamily="2" charset="2"/>
              <a:buChar char="v"/>
            </a:pPr>
            <a:r>
              <a:rPr lang="es-MX" sz="3600" dirty="0"/>
              <a:t>Motivación del equipo de trabajo. </a:t>
            </a:r>
          </a:p>
          <a:p>
            <a:pPr marL="571500" indent="-571500">
              <a:buClr>
                <a:srgbClr val="FFB10D"/>
              </a:buClr>
              <a:buFont typeface="Wingdings" panose="05000000000000000000" pitchFamily="2" charset="2"/>
              <a:buChar char="v"/>
            </a:pPr>
            <a:r>
              <a:rPr lang="es-MX" sz="3600" dirty="0"/>
              <a:t>Comunicación institucional. </a:t>
            </a:r>
          </a:p>
          <a:p>
            <a:pPr marL="571500" indent="-571500">
              <a:buClr>
                <a:srgbClr val="FFB10D"/>
              </a:buClr>
              <a:buFont typeface="Wingdings" panose="05000000000000000000" pitchFamily="2" charset="2"/>
              <a:buChar char="v"/>
            </a:pPr>
            <a:r>
              <a:rPr lang="es-MX" sz="3600" dirty="0"/>
              <a:t>Coordinación de actividades. </a:t>
            </a:r>
          </a:p>
          <a:p>
            <a:pPr marL="571500" indent="-571500">
              <a:buClr>
                <a:srgbClr val="FFB10D"/>
              </a:buClr>
              <a:buFont typeface="Wingdings" panose="05000000000000000000" pitchFamily="2" charset="2"/>
              <a:buChar char="v"/>
            </a:pPr>
            <a:r>
              <a:rPr lang="es-MX" sz="3600" dirty="0"/>
              <a:t>Participación activa en procesos comunitarios.</a:t>
            </a:r>
            <a:endParaRPr lang="es-419" sz="800" dirty="0"/>
          </a:p>
        </p:txBody>
      </p:sp>
    </p:spTree>
    <p:extLst>
      <p:ext uri="{BB962C8B-B14F-4D97-AF65-F5344CB8AC3E}">
        <p14:creationId xmlns:p14="http://schemas.microsoft.com/office/powerpoint/2010/main" val="100439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6DFEC-C6CB-D603-E2DF-05D2EBF5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A21AEA-E664-6B07-3C65-24A966751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901F21-A0CA-9512-DC02-6A1B668CB62E}"/>
              </a:ext>
            </a:extLst>
          </p:cNvPr>
          <p:cNvSpPr txBox="1"/>
          <p:nvPr/>
        </p:nvSpPr>
        <p:spPr>
          <a:xfrm>
            <a:off x="481504" y="1536475"/>
            <a:ext cx="108570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5400" b="1" dirty="0">
                <a:solidFill>
                  <a:srgbClr val="037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</a:t>
            </a:r>
            <a:r>
              <a:rPr lang="es-419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</a:p>
          <a:p>
            <a:r>
              <a:rPr lang="es-MX" sz="3600" dirty="0"/>
              <a:t>Aplicación en Soy Pacífico </a:t>
            </a:r>
          </a:p>
          <a:p>
            <a:endParaRPr lang="es-MX" sz="3600" dirty="0"/>
          </a:p>
          <a:p>
            <a:pPr marL="571500" indent="-571500">
              <a:buClr>
                <a:srgbClr val="0378FC"/>
              </a:buClr>
              <a:buFont typeface="Wingdings" panose="05000000000000000000" pitchFamily="2" charset="2"/>
              <a:buChar char="Ø"/>
            </a:pPr>
            <a:r>
              <a:rPr lang="es-MX" sz="3600" dirty="0"/>
              <a:t>Seguimiento a proyectos ejecutados. </a:t>
            </a:r>
          </a:p>
          <a:p>
            <a:pPr marL="571500" indent="-571500">
              <a:buClr>
                <a:srgbClr val="0378FC"/>
              </a:buClr>
              <a:buFont typeface="Wingdings" panose="05000000000000000000" pitchFamily="2" charset="2"/>
              <a:buChar char="Ø"/>
            </a:pPr>
            <a:r>
              <a:rPr lang="es-MX" sz="3600" dirty="0"/>
              <a:t>Evaluación de resultados. </a:t>
            </a:r>
          </a:p>
          <a:p>
            <a:pPr marL="571500" indent="-571500">
              <a:buClr>
                <a:srgbClr val="0378FC"/>
              </a:buClr>
              <a:buFont typeface="Wingdings" panose="05000000000000000000" pitchFamily="2" charset="2"/>
              <a:buChar char="Ø"/>
            </a:pPr>
            <a:r>
              <a:rPr lang="es-MX" sz="3600" dirty="0"/>
              <a:t>Supervisión administrativa y financiera. </a:t>
            </a:r>
          </a:p>
          <a:p>
            <a:pPr marL="571500" indent="-571500">
              <a:buClr>
                <a:srgbClr val="0378FC"/>
              </a:buClr>
              <a:buFont typeface="Wingdings" panose="05000000000000000000" pitchFamily="2" charset="2"/>
              <a:buChar char="Ø"/>
            </a:pPr>
            <a:r>
              <a:rPr lang="es-MX" sz="3600" dirty="0"/>
              <a:t>Verificación del cumplimiento de metas. </a:t>
            </a:r>
          </a:p>
          <a:p>
            <a:pPr marL="571500" indent="-571500">
              <a:buClr>
                <a:srgbClr val="0378FC"/>
              </a:buClr>
              <a:buFont typeface="Wingdings" panose="05000000000000000000" pitchFamily="2" charset="2"/>
              <a:buChar char="Ø"/>
            </a:pPr>
            <a:r>
              <a:rPr lang="es-MX" sz="3600" dirty="0"/>
              <a:t>Elaboración de informes institucionales.</a:t>
            </a:r>
            <a:endParaRPr lang="es-419" sz="200" dirty="0"/>
          </a:p>
        </p:txBody>
      </p:sp>
    </p:spTree>
    <p:extLst>
      <p:ext uri="{BB962C8B-B14F-4D97-AF65-F5344CB8AC3E}">
        <p14:creationId xmlns:p14="http://schemas.microsoft.com/office/powerpoint/2010/main" val="2864050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43D1-0B41-8583-7737-759C321D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250C6B3-5B67-ABEC-5B34-F10E81ADB469}"/>
              </a:ext>
            </a:extLst>
          </p:cNvPr>
          <p:cNvSpPr txBox="1"/>
          <p:nvPr/>
        </p:nvSpPr>
        <p:spPr>
          <a:xfrm>
            <a:off x="717379" y="539311"/>
            <a:ext cx="1020681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 DE SELECCIÓN</a:t>
            </a:r>
          </a:p>
          <a:p>
            <a:r>
              <a:rPr lang="es-MX" sz="3200" dirty="0"/>
              <a:t>Frederick Taylor - Administración Científica</a:t>
            </a:r>
            <a:endParaRPr lang="es-419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972CE2-5958-ADB8-FF46-06B4D2D461D3}"/>
              </a:ext>
            </a:extLst>
          </p:cNvPr>
          <p:cNvSpPr txBox="1"/>
          <p:nvPr/>
        </p:nvSpPr>
        <p:spPr>
          <a:xfrm>
            <a:off x="1284802" y="2072722"/>
            <a:ext cx="5440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Selección de personal según capacidades.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E987D1-8292-B7AB-B53A-F4326885AFDD}"/>
              </a:ext>
            </a:extLst>
          </p:cNvPr>
          <p:cNvSpPr txBox="1"/>
          <p:nvPr/>
        </p:nvSpPr>
        <p:spPr>
          <a:xfrm>
            <a:off x="1284802" y="2965479"/>
            <a:ext cx="4490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Asignación eficiente de funciones.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B02770-9E34-8E79-2F9E-2329A7EA906B}"/>
              </a:ext>
            </a:extLst>
          </p:cNvPr>
          <p:cNvSpPr txBox="1"/>
          <p:nvPr/>
        </p:nvSpPr>
        <p:spPr>
          <a:xfrm>
            <a:off x="1279380" y="3833386"/>
            <a:ext cx="5815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Evaluación de competencias profesionales.</a:t>
            </a:r>
            <a:endParaRPr lang="es-419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2D53DB-28FC-56FF-BEBE-C275B62D02A4}"/>
              </a:ext>
            </a:extLst>
          </p:cNvPr>
          <p:cNvSpPr txBox="1"/>
          <p:nvPr/>
        </p:nvSpPr>
        <p:spPr>
          <a:xfrm>
            <a:off x="1331103" y="5614863"/>
            <a:ext cx="615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Mejor aprovechamiento del talento humano.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671E29B-38CD-4D6D-80E8-FA0BB294A739}"/>
              </a:ext>
            </a:extLst>
          </p:cNvPr>
          <p:cNvGrpSpPr/>
          <p:nvPr/>
        </p:nvGrpSpPr>
        <p:grpSpPr>
          <a:xfrm>
            <a:off x="0" y="6378594"/>
            <a:ext cx="12192000" cy="461665"/>
            <a:chOff x="0" y="8401050"/>
            <a:chExt cx="15925800" cy="56197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E4B1DA5-F6CB-39C5-AA07-7CA4B7165326}"/>
                </a:ext>
              </a:extLst>
            </p:cNvPr>
            <p:cNvSpPr/>
            <p:nvPr/>
          </p:nvSpPr>
          <p:spPr>
            <a:xfrm>
              <a:off x="0" y="8401050"/>
              <a:ext cx="3981450" cy="561975"/>
            </a:xfrm>
            <a:custGeom>
              <a:avLst/>
              <a:gdLst/>
              <a:ahLst/>
              <a:cxnLst/>
              <a:rect l="l" t="t" r="r" b="b"/>
              <a:pathLst>
                <a:path w="3981450" h="561975">
                  <a:moveTo>
                    <a:pt x="0" y="0"/>
                  </a:moveTo>
                  <a:lnTo>
                    <a:pt x="3981450" y="0"/>
                  </a:lnTo>
                  <a:lnTo>
                    <a:pt x="39814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B90DE32A-A4B0-00F2-BE02-789331CB4992}"/>
                </a:ext>
              </a:extLst>
            </p:cNvPr>
            <p:cNvSpPr/>
            <p:nvPr/>
          </p:nvSpPr>
          <p:spPr>
            <a:xfrm>
              <a:off x="3790950" y="8401050"/>
              <a:ext cx="4171950" cy="561975"/>
            </a:xfrm>
            <a:custGeom>
              <a:avLst/>
              <a:gdLst/>
              <a:ahLst/>
              <a:cxnLst/>
              <a:rect l="l" t="t" r="r" b="b"/>
              <a:pathLst>
                <a:path w="4171950" h="561975">
                  <a:moveTo>
                    <a:pt x="0" y="0"/>
                  </a:moveTo>
                  <a:lnTo>
                    <a:pt x="4171950" y="0"/>
                  </a:lnTo>
                  <a:lnTo>
                    <a:pt x="41719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045DAB6A-9125-54C8-18CF-665AD5DA1393}"/>
                </a:ext>
              </a:extLst>
            </p:cNvPr>
            <p:cNvSpPr/>
            <p:nvPr/>
          </p:nvSpPr>
          <p:spPr>
            <a:xfrm>
              <a:off x="7962900" y="8401050"/>
              <a:ext cx="3981450" cy="561975"/>
            </a:xfrm>
            <a:custGeom>
              <a:avLst/>
              <a:gdLst/>
              <a:ahLst/>
              <a:cxnLst/>
              <a:rect l="l" t="t" r="r" b="b"/>
              <a:pathLst>
                <a:path w="3981450" h="561975">
                  <a:moveTo>
                    <a:pt x="0" y="0"/>
                  </a:moveTo>
                  <a:lnTo>
                    <a:pt x="3981450" y="0"/>
                  </a:lnTo>
                  <a:lnTo>
                    <a:pt x="39814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A62895E-5A04-0D2C-6251-936CFE1B395F}"/>
                </a:ext>
              </a:extLst>
            </p:cNvPr>
            <p:cNvSpPr/>
            <p:nvPr/>
          </p:nvSpPr>
          <p:spPr>
            <a:xfrm>
              <a:off x="11753850" y="8401050"/>
              <a:ext cx="4171950" cy="561975"/>
            </a:xfrm>
            <a:custGeom>
              <a:avLst/>
              <a:gdLst/>
              <a:ahLst/>
              <a:cxnLst/>
              <a:rect l="l" t="t" r="r" b="b"/>
              <a:pathLst>
                <a:path w="4171950" h="561975">
                  <a:moveTo>
                    <a:pt x="0" y="0"/>
                  </a:moveTo>
                  <a:lnTo>
                    <a:pt x="4171950" y="0"/>
                  </a:lnTo>
                  <a:lnTo>
                    <a:pt x="41719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3" name="Freeform 7">
            <a:extLst>
              <a:ext uri="{FF2B5EF4-FFF2-40B4-BE49-F238E27FC236}">
                <a16:creationId xmlns:a16="http://schemas.microsoft.com/office/drawing/2014/main" id="{238D33E3-F243-670E-640F-FD58001A6146}"/>
              </a:ext>
            </a:extLst>
          </p:cNvPr>
          <p:cNvSpPr/>
          <p:nvPr/>
        </p:nvSpPr>
        <p:spPr>
          <a:xfrm>
            <a:off x="317062" y="1817516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088EFB2F-1200-7CDE-FAB9-68E325D0A4F2}"/>
              </a:ext>
            </a:extLst>
          </p:cNvPr>
          <p:cNvSpPr/>
          <p:nvPr/>
        </p:nvSpPr>
        <p:spPr>
          <a:xfrm>
            <a:off x="322777" y="2676002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D5D3BF36-1F40-2963-1CE0-3B544EA2667F}"/>
              </a:ext>
            </a:extLst>
          </p:cNvPr>
          <p:cNvSpPr/>
          <p:nvPr/>
        </p:nvSpPr>
        <p:spPr>
          <a:xfrm>
            <a:off x="334352" y="3560783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669057C3-2721-C2C9-626B-9C64F354BF48}"/>
              </a:ext>
            </a:extLst>
          </p:cNvPr>
          <p:cNvSpPr/>
          <p:nvPr/>
        </p:nvSpPr>
        <p:spPr>
          <a:xfrm>
            <a:off x="369077" y="4466987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A6C7EA8D-3B79-D28C-1C2E-B9998244BF29}"/>
              </a:ext>
            </a:extLst>
          </p:cNvPr>
          <p:cNvSpPr/>
          <p:nvPr/>
        </p:nvSpPr>
        <p:spPr>
          <a:xfrm>
            <a:off x="8642368" y="667050"/>
            <a:ext cx="2832251" cy="3228318"/>
          </a:xfrm>
          <a:custGeom>
            <a:avLst/>
            <a:gdLst/>
            <a:ahLst/>
            <a:cxnLst/>
            <a:rect l="l" t="t" r="r" b="b"/>
            <a:pathLst>
              <a:path w="3609975" h="4114800">
                <a:moveTo>
                  <a:pt x="0" y="0"/>
                </a:moveTo>
                <a:lnTo>
                  <a:pt x="3609975" y="0"/>
                </a:lnTo>
                <a:lnTo>
                  <a:pt x="3609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8F5F7B5E-3DF4-2D73-CC61-634A99F93793}"/>
              </a:ext>
            </a:extLst>
          </p:cNvPr>
          <p:cNvSpPr/>
          <p:nvPr/>
        </p:nvSpPr>
        <p:spPr>
          <a:xfrm>
            <a:off x="10595081" y="4958782"/>
            <a:ext cx="1152525" cy="1133475"/>
          </a:xfrm>
          <a:custGeom>
            <a:avLst/>
            <a:gdLst/>
            <a:ahLst/>
            <a:cxnLst/>
            <a:rect l="l" t="t" r="r" b="b"/>
            <a:pathLst>
              <a:path w="1152525" h="1133475">
                <a:moveTo>
                  <a:pt x="0" y="0"/>
                </a:moveTo>
                <a:lnTo>
                  <a:pt x="1152525" y="0"/>
                </a:lnTo>
                <a:lnTo>
                  <a:pt x="1152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5603F3F7-5AC1-A60C-6C22-4ADA9FC96517}"/>
              </a:ext>
            </a:extLst>
          </p:cNvPr>
          <p:cNvSpPr/>
          <p:nvPr/>
        </p:nvSpPr>
        <p:spPr>
          <a:xfrm>
            <a:off x="380652" y="5331269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30104C-66D6-6862-DBA8-CAF66F6E5BCB}"/>
              </a:ext>
            </a:extLst>
          </p:cNvPr>
          <p:cNvSpPr txBox="1"/>
          <p:nvPr/>
        </p:nvSpPr>
        <p:spPr>
          <a:xfrm>
            <a:off x="1331103" y="4701293"/>
            <a:ext cx="4155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Especialización del trabajo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1568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6FD5-1F2C-2ED0-C211-7B3823FF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54D50F3-DA4D-5F52-3871-5BC97629EE6D}"/>
              </a:ext>
            </a:extLst>
          </p:cNvPr>
          <p:cNvSpPr txBox="1"/>
          <p:nvPr/>
        </p:nvSpPr>
        <p:spPr>
          <a:xfrm>
            <a:off x="595459" y="374504"/>
            <a:ext cx="1020681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APLICACIÓN DEL PROCESO DE SELECCIÓN</a:t>
            </a:r>
          </a:p>
          <a:p>
            <a:r>
              <a:rPr lang="es-MX" sz="3200" dirty="0"/>
              <a:t>En la Corporación Soy Pacífico </a:t>
            </a:r>
          </a:p>
          <a:p>
            <a:r>
              <a:rPr lang="es-MX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s-419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BCCE33-DE33-4C78-2934-AB30563FE087}"/>
              </a:ext>
            </a:extLst>
          </p:cNvPr>
          <p:cNvSpPr txBox="1"/>
          <p:nvPr/>
        </p:nvSpPr>
        <p:spPr>
          <a:xfrm>
            <a:off x="1267803" y="1876475"/>
            <a:ext cx="1020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integrante ocupa un cargo según su perfil profesional.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2551272-42EB-520A-19B0-98C16DB4A1DC}"/>
              </a:ext>
            </a:extLst>
          </p:cNvPr>
          <p:cNvSpPr txBox="1"/>
          <p:nvPr/>
        </p:nvSpPr>
        <p:spPr>
          <a:xfrm>
            <a:off x="1290517" y="2849371"/>
            <a:ext cx="1020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Existen coordinaciones especializadas.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F7BF97-FE43-BE26-FAD4-334783BD1CFA}"/>
              </a:ext>
            </a:extLst>
          </p:cNvPr>
          <p:cNvSpPr txBox="1"/>
          <p:nvPr/>
        </p:nvSpPr>
        <p:spPr>
          <a:xfrm>
            <a:off x="1290517" y="3704951"/>
            <a:ext cx="1020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 asignan responsabilidades específicas.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5E28790-3045-DFD4-67EC-E5484B64DDA7}"/>
              </a:ext>
            </a:extLst>
          </p:cNvPr>
          <p:cNvSpPr txBox="1"/>
          <p:nvPr/>
        </p:nvSpPr>
        <p:spPr>
          <a:xfrm>
            <a:off x="1267804" y="4613186"/>
            <a:ext cx="1020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 fortalece la eficiencia institucional.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7A48F2D9-8648-87DE-E797-3EC36817862D}"/>
              </a:ext>
            </a:extLst>
          </p:cNvPr>
          <p:cNvGrpSpPr/>
          <p:nvPr/>
        </p:nvGrpSpPr>
        <p:grpSpPr>
          <a:xfrm>
            <a:off x="0" y="6378594"/>
            <a:ext cx="12192000" cy="461665"/>
            <a:chOff x="0" y="8401050"/>
            <a:chExt cx="15925800" cy="56197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A40BA3E-B91E-6E1C-7E83-400D5C973276}"/>
                </a:ext>
              </a:extLst>
            </p:cNvPr>
            <p:cNvSpPr/>
            <p:nvPr/>
          </p:nvSpPr>
          <p:spPr>
            <a:xfrm>
              <a:off x="0" y="8401050"/>
              <a:ext cx="3981450" cy="561975"/>
            </a:xfrm>
            <a:custGeom>
              <a:avLst/>
              <a:gdLst/>
              <a:ahLst/>
              <a:cxnLst/>
              <a:rect l="l" t="t" r="r" b="b"/>
              <a:pathLst>
                <a:path w="3981450" h="561975">
                  <a:moveTo>
                    <a:pt x="0" y="0"/>
                  </a:moveTo>
                  <a:lnTo>
                    <a:pt x="3981450" y="0"/>
                  </a:lnTo>
                  <a:lnTo>
                    <a:pt x="39814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3AD795CF-0786-B3EA-7756-45D467D27590}"/>
                </a:ext>
              </a:extLst>
            </p:cNvPr>
            <p:cNvSpPr/>
            <p:nvPr/>
          </p:nvSpPr>
          <p:spPr>
            <a:xfrm>
              <a:off x="3790950" y="8401050"/>
              <a:ext cx="4171950" cy="561975"/>
            </a:xfrm>
            <a:custGeom>
              <a:avLst/>
              <a:gdLst/>
              <a:ahLst/>
              <a:cxnLst/>
              <a:rect l="l" t="t" r="r" b="b"/>
              <a:pathLst>
                <a:path w="4171950" h="561975">
                  <a:moveTo>
                    <a:pt x="0" y="0"/>
                  </a:moveTo>
                  <a:lnTo>
                    <a:pt x="4171950" y="0"/>
                  </a:lnTo>
                  <a:lnTo>
                    <a:pt x="41719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419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039539B-5AAD-AD3D-789E-16A7C66D2D8D}"/>
                </a:ext>
              </a:extLst>
            </p:cNvPr>
            <p:cNvSpPr/>
            <p:nvPr/>
          </p:nvSpPr>
          <p:spPr>
            <a:xfrm>
              <a:off x="7962900" y="8401050"/>
              <a:ext cx="3981450" cy="561975"/>
            </a:xfrm>
            <a:custGeom>
              <a:avLst/>
              <a:gdLst/>
              <a:ahLst/>
              <a:cxnLst/>
              <a:rect l="l" t="t" r="r" b="b"/>
              <a:pathLst>
                <a:path w="3981450" h="561975">
                  <a:moveTo>
                    <a:pt x="0" y="0"/>
                  </a:moveTo>
                  <a:lnTo>
                    <a:pt x="3981450" y="0"/>
                  </a:lnTo>
                  <a:lnTo>
                    <a:pt x="39814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BBAD69-A513-0352-B633-85C0F2858C39}"/>
                </a:ext>
              </a:extLst>
            </p:cNvPr>
            <p:cNvSpPr/>
            <p:nvPr/>
          </p:nvSpPr>
          <p:spPr>
            <a:xfrm>
              <a:off x="11753850" y="8401050"/>
              <a:ext cx="4171950" cy="561975"/>
            </a:xfrm>
            <a:custGeom>
              <a:avLst/>
              <a:gdLst/>
              <a:ahLst/>
              <a:cxnLst/>
              <a:rect l="l" t="t" r="r" b="b"/>
              <a:pathLst>
                <a:path w="4171950" h="561975">
                  <a:moveTo>
                    <a:pt x="0" y="0"/>
                  </a:moveTo>
                  <a:lnTo>
                    <a:pt x="4171950" y="0"/>
                  </a:lnTo>
                  <a:lnTo>
                    <a:pt x="41719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3" name="Freeform 7">
            <a:extLst>
              <a:ext uri="{FF2B5EF4-FFF2-40B4-BE49-F238E27FC236}">
                <a16:creationId xmlns:a16="http://schemas.microsoft.com/office/drawing/2014/main" id="{1AA918DA-ABEA-0416-E088-1D4044EAE1A5}"/>
              </a:ext>
            </a:extLst>
          </p:cNvPr>
          <p:cNvSpPr/>
          <p:nvPr/>
        </p:nvSpPr>
        <p:spPr>
          <a:xfrm>
            <a:off x="317062" y="1636376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CB23E75A-6A8E-6A34-172B-D8616FF56E0E}"/>
              </a:ext>
            </a:extLst>
          </p:cNvPr>
          <p:cNvSpPr/>
          <p:nvPr/>
        </p:nvSpPr>
        <p:spPr>
          <a:xfrm>
            <a:off x="322777" y="2516661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89976392-36B6-9A93-4BCF-FB2D9DD4BFAD}"/>
              </a:ext>
            </a:extLst>
          </p:cNvPr>
          <p:cNvSpPr/>
          <p:nvPr/>
        </p:nvSpPr>
        <p:spPr>
          <a:xfrm>
            <a:off x="322777" y="342900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4A50E6AB-CC15-E7F8-87AE-82329AAD3AAC}"/>
              </a:ext>
            </a:extLst>
          </p:cNvPr>
          <p:cNvSpPr/>
          <p:nvPr/>
        </p:nvSpPr>
        <p:spPr>
          <a:xfrm>
            <a:off x="322777" y="4371975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4A00381F-1D8E-74FD-93F4-5DCFBD97EEA6}"/>
              </a:ext>
            </a:extLst>
          </p:cNvPr>
          <p:cNvSpPr/>
          <p:nvPr/>
        </p:nvSpPr>
        <p:spPr>
          <a:xfrm>
            <a:off x="8764290" y="1047230"/>
            <a:ext cx="2832251" cy="3228318"/>
          </a:xfrm>
          <a:custGeom>
            <a:avLst/>
            <a:gdLst/>
            <a:ahLst/>
            <a:cxnLst/>
            <a:rect l="l" t="t" r="r" b="b"/>
            <a:pathLst>
              <a:path w="3609975" h="4114800">
                <a:moveTo>
                  <a:pt x="0" y="0"/>
                </a:moveTo>
                <a:lnTo>
                  <a:pt x="3609975" y="0"/>
                </a:lnTo>
                <a:lnTo>
                  <a:pt x="3609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9C1B7EF-A40A-CEB7-FE0E-7C70F58D1870}"/>
              </a:ext>
            </a:extLst>
          </p:cNvPr>
          <p:cNvSpPr/>
          <p:nvPr/>
        </p:nvSpPr>
        <p:spPr>
          <a:xfrm>
            <a:off x="10595081" y="4958782"/>
            <a:ext cx="1152525" cy="1133475"/>
          </a:xfrm>
          <a:custGeom>
            <a:avLst/>
            <a:gdLst/>
            <a:ahLst/>
            <a:cxnLst/>
            <a:rect l="l" t="t" r="r" b="b"/>
            <a:pathLst>
              <a:path w="1152525" h="1133475">
                <a:moveTo>
                  <a:pt x="0" y="0"/>
                </a:moveTo>
                <a:lnTo>
                  <a:pt x="1152525" y="0"/>
                </a:lnTo>
                <a:lnTo>
                  <a:pt x="1152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2F0244B7-660D-47F5-3A8E-A5027C13C5A4}"/>
              </a:ext>
            </a:extLst>
          </p:cNvPr>
          <p:cNvSpPr/>
          <p:nvPr/>
        </p:nvSpPr>
        <p:spPr>
          <a:xfrm>
            <a:off x="322777" y="5285766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17D606-015D-BB01-3212-592DA09748AD}"/>
              </a:ext>
            </a:extLst>
          </p:cNvPr>
          <p:cNvSpPr txBox="1"/>
          <p:nvPr/>
        </p:nvSpPr>
        <p:spPr>
          <a:xfrm>
            <a:off x="1283044" y="5552051"/>
            <a:ext cx="1020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 optimiza el trabajo en equipo.</a:t>
            </a:r>
            <a:endParaRPr lang="es-419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036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5593-01E2-3077-ACB0-440E1D3E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>
            <a:extLst>
              <a:ext uri="{FF2B5EF4-FFF2-40B4-BE49-F238E27FC236}">
                <a16:creationId xmlns:a16="http://schemas.microsoft.com/office/drawing/2014/main" id="{433F3B1E-6C0C-B669-7E48-9D5A11C2AE88}"/>
              </a:ext>
            </a:extLst>
          </p:cNvPr>
          <p:cNvSpPr/>
          <p:nvPr/>
        </p:nvSpPr>
        <p:spPr>
          <a:xfrm>
            <a:off x="8689899" y="277990"/>
            <a:ext cx="2832251" cy="3228318"/>
          </a:xfrm>
          <a:custGeom>
            <a:avLst/>
            <a:gdLst/>
            <a:ahLst/>
            <a:cxnLst/>
            <a:rect l="l" t="t" r="r" b="b"/>
            <a:pathLst>
              <a:path w="3609975" h="4114800">
                <a:moveTo>
                  <a:pt x="0" y="0"/>
                </a:moveTo>
                <a:lnTo>
                  <a:pt x="3609975" y="0"/>
                </a:lnTo>
                <a:lnTo>
                  <a:pt x="3609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AB4E5D-A5EF-2160-404E-F50D3743094A}"/>
              </a:ext>
            </a:extLst>
          </p:cNvPr>
          <p:cNvSpPr txBox="1"/>
          <p:nvPr/>
        </p:nvSpPr>
        <p:spPr>
          <a:xfrm>
            <a:off x="580219" y="415686"/>
            <a:ext cx="85637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CONCLUSIONES </a:t>
            </a:r>
          </a:p>
          <a:p>
            <a:r>
              <a:rPr lang="es-MX" sz="3200" dirty="0"/>
              <a:t>La Corporación Soy Pacífico aplica el proceso administrativo de Henry Fayol.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C96CDC-922A-FB5F-B788-B6E92B85A7C2}"/>
              </a:ext>
            </a:extLst>
          </p:cNvPr>
          <p:cNvSpPr txBox="1"/>
          <p:nvPr/>
        </p:nvSpPr>
        <p:spPr>
          <a:xfrm>
            <a:off x="1284802" y="2211622"/>
            <a:ext cx="1020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planeación fortalece el desarrollo de proyectos sociales.</a:t>
            </a:r>
            <a:endParaRPr lang="es-419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195CDD9-ACD6-ECDC-0882-F4C599C59D75}"/>
              </a:ext>
            </a:extLst>
          </p:cNvPr>
          <p:cNvSpPr txBox="1"/>
          <p:nvPr/>
        </p:nvSpPr>
        <p:spPr>
          <a:xfrm>
            <a:off x="1284802" y="3324298"/>
            <a:ext cx="1020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organización mejora la eficiencia institucional.</a:t>
            </a:r>
            <a:endParaRPr lang="es-419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1853AB-8C12-1C40-BBEC-89FE4737DAF6}"/>
              </a:ext>
            </a:extLst>
          </p:cNvPr>
          <p:cNvSpPr txBox="1"/>
          <p:nvPr/>
        </p:nvSpPr>
        <p:spPr>
          <a:xfrm>
            <a:off x="1267804" y="4388979"/>
            <a:ext cx="1020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dirección fortalece el liderazgo y trabajo colaborativo.</a:t>
            </a:r>
            <a:endParaRPr lang="es-419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9BD8F6-F233-C0ED-1827-CFF8AD2E61D6}"/>
              </a:ext>
            </a:extLst>
          </p:cNvPr>
          <p:cNvSpPr txBox="1"/>
          <p:nvPr/>
        </p:nvSpPr>
        <p:spPr>
          <a:xfrm>
            <a:off x="1284802" y="5344255"/>
            <a:ext cx="1020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control garantiza seguimiento y transparencia.</a:t>
            </a:r>
            <a:endParaRPr lang="es-419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D0838D8-BD27-4618-A68E-8C1C3F51FE0A}"/>
              </a:ext>
            </a:extLst>
          </p:cNvPr>
          <p:cNvGrpSpPr/>
          <p:nvPr/>
        </p:nvGrpSpPr>
        <p:grpSpPr>
          <a:xfrm>
            <a:off x="0" y="6378594"/>
            <a:ext cx="12192000" cy="461665"/>
            <a:chOff x="0" y="8401050"/>
            <a:chExt cx="15925800" cy="56197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BFCF9CA3-ED0A-273F-CB4F-70C248BDFE25}"/>
                </a:ext>
              </a:extLst>
            </p:cNvPr>
            <p:cNvSpPr/>
            <p:nvPr/>
          </p:nvSpPr>
          <p:spPr>
            <a:xfrm>
              <a:off x="0" y="8401050"/>
              <a:ext cx="3981450" cy="561975"/>
            </a:xfrm>
            <a:custGeom>
              <a:avLst/>
              <a:gdLst/>
              <a:ahLst/>
              <a:cxnLst/>
              <a:rect l="l" t="t" r="r" b="b"/>
              <a:pathLst>
                <a:path w="3981450" h="561975">
                  <a:moveTo>
                    <a:pt x="0" y="0"/>
                  </a:moveTo>
                  <a:lnTo>
                    <a:pt x="3981450" y="0"/>
                  </a:lnTo>
                  <a:lnTo>
                    <a:pt x="39814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419" sz="200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D8511FDB-9AE1-DD86-C19F-55F9B4EEC6FC}"/>
                </a:ext>
              </a:extLst>
            </p:cNvPr>
            <p:cNvSpPr/>
            <p:nvPr/>
          </p:nvSpPr>
          <p:spPr>
            <a:xfrm>
              <a:off x="3790950" y="8401050"/>
              <a:ext cx="4171950" cy="561975"/>
            </a:xfrm>
            <a:custGeom>
              <a:avLst/>
              <a:gdLst/>
              <a:ahLst/>
              <a:cxnLst/>
              <a:rect l="l" t="t" r="r" b="b"/>
              <a:pathLst>
                <a:path w="4171950" h="561975">
                  <a:moveTo>
                    <a:pt x="0" y="0"/>
                  </a:moveTo>
                  <a:lnTo>
                    <a:pt x="4171950" y="0"/>
                  </a:lnTo>
                  <a:lnTo>
                    <a:pt x="41719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419" sz="20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06DACAD0-54CC-F0DB-02FB-5EF48501997D}"/>
                </a:ext>
              </a:extLst>
            </p:cNvPr>
            <p:cNvSpPr/>
            <p:nvPr/>
          </p:nvSpPr>
          <p:spPr>
            <a:xfrm>
              <a:off x="7962900" y="8401050"/>
              <a:ext cx="3981450" cy="561975"/>
            </a:xfrm>
            <a:custGeom>
              <a:avLst/>
              <a:gdLst/>
              <a:ahLst/>
              <a:cxnLst/>
              <a:rect l="l" t="t" r="r" b="b"/>
              <a:pathLst>
                <a:path w="3981450" h="561975">
                  <a:moveTo>
                    <a:pt x="0" y="0"/>
                  </a:moveTo>
                  <a:lnTo>
                    <a:pt x="3981450" y="0"/>
                  </a:lnTo>
                  <a:lnTo>
                    <a:pt x="39814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419" sz="200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AE62D07-AE55-40CF-61F0-3D3D89CFB281}"/>
                </a:ext>
              </a:extLst>
            </p:cNvPr>
            <p:cNvSpPr/>
            <p:nvPr/>
          </p:nvSpPr>
          <p:spPr>
            <a:xfrm>
              <a:off x="11753850" y="8401050"/>
              <a:ext cx="4171950" cy="561975"/>
            </a:xfrm>
            <a:custGeom>
              <a:avLst/>
              <a:gdLst/>
              <a:ahLst/>
              <a:cxnLst/>
              <a:rect l="l" t="t" r="r" b="b"/>
              <a:pathLst>
                <a:path w="4171950" h="561975">
                  <a:moveTo>
                    <a:pt x="0" y="0"/>
                  </a:moveTo>
                  <a:lnTo>
                    <a:pt x="4171950" y="0"/>
                  </a:lnTo>
                  <a:lnTo>
                    <a:pt x="41719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419" sz="2000"/>
            </a:p>
          </p:txBody>
        </p:sp>
      </p:grpSp>
      <p:sp>
        <p:nvSpPr>
          <p:cNvPr id="13" name="Freeform 7">
            <a:extLst>
              <a:ext uri="{FF2B5EF4-FFF2-40B4-BE49-F238E27FC236}">
                <a16:creationId xmlns:a16="http://schemas.microsoft.com/office/drawing/2014/main" id="{61B34F39-4C6F-09A2-C3B0-6B67FFFE9E4B}"/>
              </a:ext>
            </a:extLst>
          </p:cNvPr>
          <p:cNvSpPr/>
          <p:nvPr/>
        </p:nvSpPr>
        <p:spPr>
          <a:xfrm>
            <a:off x="317062" y="1956416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419" sz="200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B0CCDA8B-20D0-C30C-3623-F3D5652E223E}"/>
              </a:ext>
            </a:extLst>
          </p:cNvPr>
          <p:cNvSpPr/>
          <p:nvPr/>
        </p:nvSpPr>
        <p:spPr>
          <a:xfrm>
            <a:off x="322777" y="3034821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419" sz="200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63F60DCA-0809-E385-90F7-8CDE01DE22D4}"/>
              </a:ext>
            </a:extLst>
          </p:cNvPr>
          <p:cNvSpPr/>
          <p:nvPr/>
        </p:nvSpPr>
        <p:spPr>
          <a:xfrm>
            <a:off x="322777" y="4116376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419" sz="20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C36EC1DE-87FF-7FCD-3BB2-07C3DB9F6E2A}"/>
              </a:ext>
            </a:extLst>
          </p:cNvPr>
          <p:cNvSpPr/>
          <p:nvPr/>
        </p:nvSpPr>
        <p:spPr>
          <a:xfrm>
            <a:off x="322777" y="5103601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419" sz="2000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CDE915E4-F978-B827-373C-3C087701DBBB}"/>
              </a:ext>
            </a:extLst>
          </p:cNvPr>
          <p:cNvSpPr/>
          <p:nvPr/>
        </p:nvSpPr>
        <p:spPr>
          <a:xfrm>
            <a:off x="10595081" y="4958782"/>
            <a:ext cx="1152525" cy="1133475"/>
          </a:xfrm>
          <a:custGeom>
            <a:avLst/>
            <a:gdLst/>
            <a:ahLst/>
            <a:cxnLst/>
            <a:rect l="l" t="t" r="r" b="b"/>
            <a:pathLst>
              <a:path w="1152525" h="1133475">
                <a:moveTo>
                  <a:pt x="0" y="0"/>
                </a:moveTo>
                <a:lnTo>
                  <a:pt x="1152525" y="0"/>
                </a:lnTo>
                <a:lnTo>
                  <a:pt x="1152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419" sz="2000"/>
          </a:p>
        </p:txBody>
      </p:sp>
    </p:spTree>
    <p:extLst>
      <p:ext uri="{BB962C8B-B14F-4D97-AF65-F5344CB8AC3E}">
        <p14:creationId xmlns:p14="http://schemas.microsoft.com/office/powerpoint/2010/main" val="197064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3EDF8-055D-48EE-A3F4-94C3990E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0">
            <a:extLst>
              <a:ext uri="{FF2B5EF4-FFF2-40B4-BE49-F238E27FC236}">
                <a16:creationId xmlns:a16="http://schemas.microsoft.com/office/drawing/2014/main" id="{FBE0AB1C-F2DC-F6D1-5E44-B2244E1A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421D29F-26A6-7958-21EB-9CEF9A94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929ABD3-8F9E-581E-46E9-07B552B10641}"/>
              </a:ext>
            </a:extLst>
          </p:cNvPr>
          <p:cNvSpPr txBox="1"/>
          <p:nvPr/>
        </p:nvSpPr>
        <p:spPr>
          <a:xfrm>
            <a:off x="487680" y="2029234"/>
            <a:ext cx="9220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MUCHAS GRACIAS POR SU ATENCIÓN Y PARTICIPACIÓN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9BB6B5-D693-4141-5CDB-4FBD0C64D87D}"/>
              </a:ext>
            </a:extLst>
          </p:cNvPr>
          <p:cNvSpPr txBox="1"/>
          <p:nvPr/>
        </p:nvSpPr>
        <p:spPr>
          <a:xfrm>
            <a:off x="112088" y="4666270"/>
            <a:ext cx="7794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Cordialmente</a:t>
            </a:r>
          </a:p>
          <a:p>
            <a:r>
              <a:rPr lang="es-419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Juan José Sanmartin Barreto</a:t>
            </a:r>
          </a:p>
          <a:p>
            <a:r>
              <a:rPr lang="es-419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Director Ejecutivo </a:t>
            </a:r>
          </a:p>
          <a:p>
            <a:endParaRPr lang="es-419"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31DA04-8C48-EE3A-32A3-37BFF6E1F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285" y="287295"/>
            <a:ext cx="2011680" cy="145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8329</TotalTime>
  <Words>527</Words>
  <Application>Microsoft Office PowerPoint</Application>
  <PresentationFormat>Panorámica</PresentationFormat>
  <Paragraphs>94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o 6142</cp:lastModifiedBy>
  <cp:revision>8</cp:revision>
  <dcterms:created xsi:type="dcterms:W3CDTF">2013-01-27T09:14:16Z</dcterms:created>
  <dcterms:modified xsi:type="dcterms:W3CDTF">2026-05-28T13:12:51Z</dcterms:modified>
  <cp:category/>
</cp:coreProperties>
</file>